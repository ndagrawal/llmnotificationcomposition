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765497"/>
            <a:ext cx="7143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LLM-Based Intelligent Notification Composition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000125" y="2291358"/>
            <a:ext cx="71437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Implementation: iOS SDK, Python Backend, and Sample App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3948708" y="3388593"/>
            <a:ext cx="12465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Nilesh Agrawal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136106" y="3652912"/>
            <a:ext cx="28717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nilesh.d.agrawal@gmail.com • Seattle, WA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52155" y="4111898"/>
            <a:ext cx="728663" cy="266105"/>
          </a:xfrm>
          <a:prstGeom prst="round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52155" y="4111898"/>
            <a:ext cx="728663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Swift 5.9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3787973" y="4111898"/>
            <a:ext cx="857250" cy="266105"/>
          </a:xfrm>
          <a:prstGeom prst="round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87973" y="4111898"/>
            <a:ext cx="857250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4752380" y="4111898"/>
            <a:ext cx="667941" cy="266105"/>
          </a:xfrm>
          <a:prstGeom prst="round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2380" y="4111898"/>
            <a:ext cx="667941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527477" y="4111898"/>
            <a:ext cx="642938" cy="266105"/>
          </a:xfrm>
          <a:prstGeom prst="round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7477" y="4111898"/>
            <a:ext cx="642938" cy="26610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SwiftUI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2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Problem: WHO + WHEN + WHAT vs. HOW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71625"/>
            <a:ext cx="3857625" cy="2725341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7356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685925"/>
            <a:ext cx="204668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Solved Problems</a:t>
            </a:r>
            <a:endParaRPr lang="en-US" sz="1397" dirty="0"/>
          </a:p>
        </p:txBody>
      </p:sp>
      <p:sp>
        <p:nvSpPr>
          <p:cNvPr id="7" name="Shape 3"/>
          <p:cNvSpPr/>
          <p:nvPr/>
        </p:nvSpPr>
        <p:spPr>
          <a:xfrm>
            <a:off x="685800" y="2014538"/>
            <a:ext cx="220340" cy="285750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62" y="2085975"/>
            <a:ext cx="125016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1865" y="2014538"/>
            <a:ext cx="332296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(Audience Selection)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991865" y="2260997"/>
            <a:ext cx="332296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 predict which users have the highest propensity to convert.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685800" y="2732484"/>
            <a:ext cx="216629" cy="285750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63" y="2803922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8154" y="2732484"/>
            <a:ext cx="332667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(Send-Time Optimization)</a:t>
            </a:r>
            <a:endParaRPr lang="en-US" sz="1090" dirty="0"/>
          </a:p>
        </p:txBody>
      </p:sp>
      <p:sp>
        <p:nvSpPr>
          <p:cNvPr id="14" name="Text 8"/>
          <p:cNvSpPr/>
          <p:nvPr/>
        </p:nvSpPr>
        <p:spPr>
          <a:xfrm>
            <a:off x="988154" y="2978944"/>
            <a:ext cx="33266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bandits and history determine when a user is most receptive.</a:t>
            </a:r>
            <a:endParaRPr lang="en-US" sz="942" dirty="0"/>
          </a:p>
        </p:txBody>
      </p:sp>
      <p:sp>
        <p:nvSpPr>
          <p:cNvPr id="15" name="Shape 9"/>
          <p:cNvSpPr/>
          <p:nvPr/>
        </p:nvSpPr>
        <p:spPr>
          <a:xfrm>
            <a:off x="685800" y="3450431"/>
            <a:ext cx="243306" cy="285750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31" y="3521869"/>
            <a:ext cx="125016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14831" y="3450431"/>
            <a:ext cx="32999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(Content Ranking)</a:t>
            </a:r>
            <a:endParaRPr lang="en-US" sz="1090" dirty="0"/>
          </a:p>
        </p:txBody>
      </p:sp>
      <p:sp>
        <p:nvSpPr>
          <p:cNvPr id="18" name="Text 11"/>
          <p:cNvSpPr/>
          <p:nvPr/>
        </p:nvSpPr>
        <p:spPr>
          <a:xfrm>
            <a:off x="1014831" y="3696891"/>
            <a:ext cx="32999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systems match inventory to user preferences.</a:t>
            </a:r>
            <a:endParaRPr lang="en-US" sz="942" dirty="0"/>
          </a:p>
        </p:txBody>
      </p:sp>
      <p:sp>
        <p:nvSpPr>
          <p:cNvPr id="19" name="Shape 12"/>
          <p:cNvSpPr/>
          <p:nvPr/>
        </p:nvSpPr>
        <p:spPr>
          <a:xfrm>
            <a:off x="4714875" y="1571625"/>
            <a:ext cx="3857625" cy="2821781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1707356"/>
            <a:ext cx="200025" cy="2000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43500" y="1685925"/>
            <a:ext cx="21859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Unsolved Problem</a:t>
            </a:r>
            <a:endParaRPr lang="en-US" sz="1397" dirty="0"/>
          </a:p>
        </p:txBody>
      </p:sp>
      <p:sp>
        <p:nvSpPr>
          <p:cNvPr id="22" name="Shape 14"/>
          <p:cNvSpPr/>
          <p:nvPr/>
        </p:nvSpPr>
        <p:spPr>
          <a:xfrm>
            <a:off x="4829175" y="2014538"/>
            <a:ext cx="228154" cy="285750"/>
          </a:xfrm>
          <a:prstGeom prst="rect">
            <a:avLst/>
          </a:prstGeom>
          <a:solidFill>
            <a:srgbClr val="F85149">
              <a:alpha val="10000"/>
            </a:srgbClr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814" y="2085975"/>
            <a:ext cx="142875" cy="1428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43054" y="2014538"/>
            <a:ext cx="331514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(Message Composition)</a:t>
            </a:r>
            <a:endParaRPr lang="en-US" sz="1090" dirty="0"/>
          </a:p>
        </p:txBody>
      </p:sp>
      <p:sp>
        <p:nvSpPr>
          <p:cNvPr id="25" name="Text 16"/>
          <p:cNvSpPr/>
          <p:nvPr/>
        </p:nvSpPr>
        <p:spPr>
          <a:xfrm>
            <a:off x="5143054" y="2260997"/>
            <a:ext cx="331514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the user and context still yields a static, slot-filled template.</a:t>
            </a:r>
            <a:endParaRPr lang="en-US" sz="942" dirty="0"/>
          </a:p>
        </p:txBody>
      </p:sp>
      <p:sp>
        <p:nvSpPr>
          <p:cNvPr id="26" name="Shape 17"/>
          <p:cNvSpPr/>
          <p:nvPr/>
        </p:nvSpPr>
        <p:spPr>
          <a:xfrm>
            <a:off x="4829175" y="2732484"/>
            <a:ext cx="3629025" cy="1060847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829175" y="2732484"/>
            <a:ext cx="3629025" cy="106084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Status Quo: Slot-Filling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"Hey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51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{user.first_name}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! Your favorite 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851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{item.name}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is waiting. Order now!"
</a:t>
            </a:r>
            <a:pPr algn="l" indent="0" marL="0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28" name="Text 19"/>
          <p:cNvSpPr/>
          <p:nvPr/>
        </p:nvSpPr>
        <p:spPr>
          <a:xfrm>
            <a:off x="4829175" y="3864769"/>
            <a:ext cx="3629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jarring disconnect: smart targeting delivering a generic message that ignores why the user might act now.</a:t>
            </a:r>
            <a:endParaRPr lang="en-US" sz="942" dirty="0"/>
          </a:p>
        </p:txBody>
      </p:sp>
      <p:sp>
        <p:nvSpPr>
          <p:cNvPr id="29" name="Shape 20"/>
          <p:cNvSpPr/>
          <p:nvPr/>
        </p:nvSpPr>
        <p:spPr>
          <a:xfrm>
            <a:off x="571500" y="4364831"/>
            <a:ext cx="8001000" cy="674359"/>
          </a:xfrm>
          <a:prstGeom prst="rect">
            <a:avLst/>
          </a:prstGeom>
          <a:solidFill>
            <a:srgbClr val="238636">
              <a:alpha val="10000"/>
            </a:srgbClr>
          </a:solidFill>
          <a:ln/>
        </p:spPr>
      </p:sp>
      <p:sp>
        <p:nvSpPr>
          <p:cNvPr id="30" name="Shape 21"/>
          <p:cNvSpPr/>
          <p:nvPr/>
        </p:nvSpPr>
        <p:spPr>
          <a:xfrm>
            <a:off x="571500" y="4364831"/>
            <a:ext cx="28575" cy="674359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1" name="Text 22"/>
          <p:cNvSpPr/>
          <p:nvPr/>
        </p:nvSpPr>
        <p:spPr>
          <a:xfrm>
            <a:off x="714375" y="4479131"/>
            <a:ext cx="771525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evolution in notifications shifts from relevance (finding the right item) to intelligence (composing the right persuasive framing).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Pizza Example: From Templates to Intelligence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57325"/>
            <a:ext cx="8001000" cy="358973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543050"/>
            <a:ext cx="21020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SYSTEM CONTEXT</a:t>
            </a:r>
            <a:endParaRPr lang="en-US" sz="987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16" y="1558230"/>
            <a:ext cx="12501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36156" y="1543050"/>
            <a:ext cx="15091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John (Late-night user)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723" y="1558230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45323" y="1543050"/>
            <a:ext cx="5965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11:30 PM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277" y="1558230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41877" y="1543050"/>
            <a:ext cx="49470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Raining</a:t>
            </a:r>
            <a:endParaRPr lang="en-US" sz="1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031" y="1558230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336631" y="1543050"/>
            <a:ext cx="10929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Pepperoni Pizza</a:t>
            </a:r>
            <a:endParaRPr lang="en-US" sz="10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66317"/>
            <a:ext cx="250031" cy="2000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07256" y="1944886"/>
            <a:ext cx="21645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Quo (Template)</a:t>
            </a:r>
            <a:endParaRPr lang="en-US" sz="1397" dirty="0"/>
          </a:p>
        </p:txBody>
      </p:sp>
      <p:sp>
        <p:nvSpPr>
          <p:cNvPr id="16" name="Shape 8"/>
          <p:cNvSpPr/>
          <p:nvPr/>
        </p:nvSpPr>
        <p:spPr>
          <a:xfrm>
            <a:off x="571500" y="2344936"/>
            <a:ext cx="3914775" cy="814388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571500" y="2344936"/>
            <a:ext cx="3914775" cy="81438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"Hey John! Your favorite Pepperoni Pizza is waiting for you. Order now!"</a:t>
            </a:r>
            <a:endParaRPr lang="en-US" sz="1269" dirty="0"/>
          </a:p>
        </p:txBody>
      </p:sp>
      <p:sp>
        <p:nvSpPr>
          <p:cNvPr id="18" name="Shape 10"/>
          <p:cNvSpPr/>
          <p:nvPr/>
        </p:nvSpPr>
        <p:spPr>
          <a:xfrm>
            <a:off x="571500" y="3230761"/>
            <a:ext cx="3914775" cy="1095477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19" name="Shape 11"/>
          <p:cNvSpPr/>
          <p:nvPr/>
        </p:nvSpPr>
        <p:spPr>
          <a:xfrm>
            <a:off x="571500" y="3230761"/>
            <a:ext cx="28575" cy="1095477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Text 12"/>
          <p:cNvSpPr/>
          <p:nvPr/>
        </p:nvSpPr>
        <p:spPr>
          <a:xfrm>
            <a:off x="657225" y="3316486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FAILS</a:t>
            </a:r>
            <a:endParaRPr lang="en-US" sz="88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557588"/>
            <a:ext cx="62508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05458" y="3529013"/>
            <a:ext cx="179308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Ignores the late-night context</a:t>
            </a:r>
            <a:endParaRPr lang="en-US" sz="942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794754"/>
            <a:ext cx="62508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05458" y="3766179"/>
            <a:ext cx="181451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Ignores the weather condition</a:t>
            </a:r>
            <a:endParaRPr lang="en-US" sz="942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031921"/>
            <a:ext cx="62508" cy="10001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805458" y="4003346"/>
            <a:ext cx="246280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generic, pushy CTA ("Order now!")</a:t>
            </a:r>
            <a:endParaRPr lang="en-US" sz="942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7725" y="1966317"/>
            <a:ext cx="200025" cy="20002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943475" y="1944886"/>
            <a:ext cx="16859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Composition</a:t>
            </a:r>
            <a:endParaRPr lang="en-US" sz="1397" dirty="0"/>
          </a:p>
        </p:txBody>
      </p:sp>
      <p:sp>
        <p:nvSpPr>
          <p:cNvPr id="29" name="Shape 17"/>
          <p:cNvSpPr/>
          <p:nvPr/>
        </p:nvSpPr>
        <p:spPr>
          <a:xfrm>
            <a:off x="4657725" y="2344936"/>
            <a:ext cx="3914775" cy="1085850"/>
          </a:xfrm>
          <a:prstGeom prst="rect">
            <a:avLst/>
          </a:prstGeom>
          <a:solidFill>
            <a:srgbClr val="010409"/>
          </a:solidFill>
          <a:ln w="18288">
            <a:solidFill>
              <a:srgbClr val="238636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4657725" y="2344936"/>
            <a:ext cx="3914775" cy="10858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"Late night studying, John? It's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pouring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outside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Stay dry and let us bring a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Pepperoni Pizza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straight to your door."</a:t>
            </a:r>
            <a:endParaRPr lang="en-US" sz="1269" dirty="0"/>
          </a:p>
        </p:txBody>
      </p:sp>
      <p:sp>
        <p:nvSpPr>
          <p:cNvPr id="31" name="Shape 19"/>
          <p:cNvSpPr/>
          <p:nvPr/>
        </p:nvSpPr>
        <p:spPr>
          <a:xfrm>
            <a:off x="4657725" y="3487936"/>
            <a:ext cx="3914775" cy="1095477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32" name="Shape 20"/>
          <p:cNvSpPr/>
          <p:nvPr/>
        </p:nvSpPr>
        <p:spPr>
          <a:xfrm>
            <a:off x="4657725" y="3487936"/>
            <a:ext cx="28575" cy="1095477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33" name="Text 21"/>
          <p:cNvSpPr/>
          <p:nvPr/>
        </p:nvSpPr>
        <p:spPr>
          <a:xfrm>
            <a:off x="4743450" y="3573661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SUCCEEDS</a:t>
            </a:r>
            <a:endParaRPr lang="en-US" sz="885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450" y="3814763"/>
            <a:ext cx="100013" cy="100013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4929188" y="3786188"/>
            <a:ext cx="310931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Synthesizes time (late night) and weather (pouring)</a:t>
            </a:r>
            <a:endParaRPr lang="en-US" sz="942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3450" y="4051929"/>
            <a:ext cx="100013" cy="100013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4929188" y="4023354"/>
            <a:ext cx="28575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Frames the product as a solution to the context</a:t>
            </a:r>
            <a:endParaRPr lang="en-US" sz="942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43450" y="4289096"/>
            <a:ext cx="100013" cy="100013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929188" y="4260521"/>
            <a:ext cx="275748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pushy CTA with empathetic framing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System Architecture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493044"/>
            <a:ext cx="2002036" cy="3000375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493044"/>
            <a:ext cx="2002036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3"/>
          <p:cNvSpPr/>
          <p:nvPr/>
        </p:nvSpPr>
        <p:spPr>
          <a:xfrm>
            <a:off x="2566392" y="1493044"/>
            <a:ext cx="7144" cy="30003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4486275"/>
            <a:ext cx="2002036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93044"/>
            <a:ext cx="7144" cy="30003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1757363"/>
            <a:ext cx="290187" cy="34290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65" y="1843088"/>
            <a:ext cx="128588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2745" y="1721644"/>
            <a:ext cx="112790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SDK (Client)</a:t>
            </a:r>
            <a:endParaRPr lang="en-US" sz="1193" dirty="0"/>
          </a:p>
        </p:txBody>
      </p:sp>
      <p:sp>
        <p:nvSpPr>
          <p:cNvPr id="12" name="Shape 8"/>
          <p:cNvSpPr/>
          <p:nvPr/>
        </p:nvSpPr>
        <p:spPr>
          <a:xfrm>
            <a:off x="800100" y="2428875"/>
            <a:ext cx="1530548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41402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4425" y="2543175"/>
            <a:ext cx="110192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Collector (Batched)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800100" y="3082528"/>
            <a:ext cx="1530548" cy="398264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17366"/>
            <a:ext cx="14287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196828"/>
            <a:ext cx="10590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NCNetworkClient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800100" y="3580805"/>
            <a:ext cx="1516261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15643"/>
            <a:ext cx="142875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3695105"/>
            <a:ext cx="10465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Adapters</a:t>
            </a:r>
            <a:endParaRPr lang="en-US" sz="942" dirty="0"/>
          </a:p>
        </p:txBody>
      </p:sp>
      <p:sp>
        <p:nvSpPr>
          <p:cNvPr id="21" name="Shape 14"/>
          <p:cNvSpPr/>
          <p:nvPr/>
        </p:nvSpPr>
        <p:spPr>
          <a:xfrm>
            <a:off x="800100" y="4079081"/>
            <a:ext cx="1516261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1608"/>
            <a:ext cx="119881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20006" y="4193381"/>
            <a:ext cx="108205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 Renderer</a:t>
            </a:r>
            <a:endParaRPr lang="en-US" sz="942" dirty="0"/>
          </a:p>
        </p:txBody>
      </p:sp>
      <p:sp>
        <p:nvSpPr>
          <p:cNvPr id="24" name="Text 16"/>
          <p:cNvSpPr/>
          <p:nvPr/>
        </p:nvSpPr>
        <p:spPr>
          <a:xfrm>
            <a:off x="2687836" y="2789634"/>
            <a:ext cx="11537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&amp; SIGNALS</a:t>
            </a:r>
            <a:endParaRPr lang="en-US" sz="727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4681" y="2968228"/>
            <a:ext cx="200025" cy="228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3984427" y="1493044"/>
            <a:ext cx="1648420" cy="3000375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27" name="Shape 18"/>
          <p:cNvSpPr/>
          <p:nvPr/>
        </p:nvSpPr>
        <p:spPr>
          <a:xfrm>
            <a:off x="3984427" y="1493044"/>
            <a:ext cx="1648420" cy="28575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8" name="Shape 19"/>
          <p:cNvSpPr/>
          <p:nvPr/>
        </p:nvSpPr>
        <p:spPr>
          <a:xfrm>
            <a:off x="5625703" y="1493044"/>
            <a:ext cx="7144" cy="30003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9" name="Shape 20"/>
          <p:cNvSpPr/>
          <p:nvPr/>
        </p:nvSpPr>
        <p:spPr>
          <a:xfrm>
            <a:off x="3984427" y="4486275"/>
            <a:ext cx="164842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Shape 21"/>
          <p:cNvSpPr/>
          <p:nvPr/>
        </p:nvSpPr>
        <p:spPr>
          <a:xfrm>
            <a:off x="3984427" y="1493044"/>
            <a:ext cx="7144" cy="30003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Shape 22"/>
          <p:cNvSpPr/>
          <p:nvPr/>
        </p:nvSpPr>
        <p:spPr>
          <a:xfrm>
            <a:off x="4213027" y="1757363"/>
            <a:ext cx="213978" cy="34290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2746" y="1843088"/>
            <a:ext cx="150019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536811" y="1721644"/>
            <a:ext cx="85314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</a:t>
            </a:r>
            <a:endParaRPr lang="en-US" sz="1193" dirty="0"/>
          </a:p>
        </p:txBody>
      </p:sp>
      <p:sp>
        <p:nvSpPr>
          <p:cNvPr id="34" name="Shape 24"/>
          <p:cNvSpPr/>
          <p:nvPr/>
        </p:nvSpPr>
        <p:spPr>
          <a:xfrm>
            <a:off x="4213027" y="2428875"/>
            <a:ext cx="1176933" cy="864394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7327" y="2796778"/>
            <a:ext cx="114300" cy="1143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527352" y="2543175"/>
            <a:ext cx="74830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Router (CLV-based)</a:t>
            </a:r>
            <a:endParaRPr lang="en-US" sz="942" dirty="0"/>
          </a:p>
        </p:txBody>
      </p:sp>
      <p:sp>
        <p:nvSpPr>
          <p:cNvPr id="37" name="Shape 26"/>
          <p:cNvSpPr/>
          <p:nvPr/>
        </p:nvSpPr>
        <p:spPr>
          <a:xfrm>
            <a:off x="4213027" y="3393281"/>
            <a:ext cx="1176933" cy="709017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7327" y="3683496"/>
            <a:ext cx="114300" cy="1143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527352" y="3507581"/>
            <a:ext cx="748308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Composer (OpenAI)</a:t>
            </a:r>
            <a:endParaRPr lang="en-US" sz="942" dirty="0"/>
          </a:p>
        </p:txBody>
      </p:sp>
      <p:sp>
        <p:nvSpPr>
          <p:cNvPr id="40" name="Shape 28"/>
          <p:cNvSpPr/>
          <p:nvPr/>
        </p:nvSpPr>
        <p:spPr>
          <a:xfrm>
            <a:off x="4213027" y="4202311"/>
            <a:ext cx="1176933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7327" y="4414838"/>
            <a:ext cx="114300" cy="1143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4527352" y="4316611"/>
            <a:ext cx="74830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 Filters</a:t>
            </a:r>
            <a:endParaRPr lang="en-US" sz="942" dirty="0"/>
          </a:p>
        </p:txBody>
      </p:sp>
      <p:sp>
        <p:nvSpPr>
          <p:cNvPr id="43" name="Shape 30"/>
          <p:cNvSpPr/>
          <p:nvPr/>
        </p:nvSpPr>
        <p:spPr>
          <a:xfrm>
            <a:off x="4213027" y="4855964"/>
            <a:ext cx="1176933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7327" y="5068491"/>
            <a:ext cx="128588" cy="11430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4541639" y="4970264"/>
            <a:ext cx="73402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Ranker</a:t>
            </a:r>
            <a:endParaRPr lang="en-US" sz="942" dirty="0"/>
          </a:p>
        </p:txBody>
      </p:sp>
      <p:sp>
        <p:nvSpPr>
          <p:cNvPr id="46" name="Text 32"/>
          <p:cNvSpPr/>
          <p:nvPr/>
        </p:nvSpPr>
        <p:spPr>
          <a:xfrm>
            <a:off x="5761434" y="2789634"/>
            <a:ext cx="12055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OUTCOMES</a:t>
            </a:r>
            <a:endParaRPr lang="en-US" sz="727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4176" y="2968228"/>
            <a:ext cx="200025" cy="228600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7109817" y="1493044"/>
            <a:ext cx="1894880" cy="3000375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49" name="Shape 34"/>
          <p:cNvSpPr/>
          <p:nvPr/>
        </p:nvSpPr>
        <p:spPr>
          <a:xfrm>
            <a:off x="7109817" y="1493044"/>
            <a:ext cx="1894880" cy="28575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0" name="Shape 35"/>
          <p:cNvSpPr/>
          <p:nvPr/>
        </p:nvSpPr>
        <p:spPr>
          <a:xfrm>
            <a:off x="8997553" y="1493044"/>
            <a:ext cx="7144" cy="30003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1" name="Shape 36"/>
          <p:cNvSpPr/>
          <p:nvPr/>
        </p:nvSpPr>
        <p:spPr>
          <a:xfrm>
            <a:off x="7109817" y="4486275"/>
            <a:ext cx="189488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2" name="Shape 37"/>
          <p:cNvSpPr/>
          <p:nvPr/>
        </p:nvSpPr>
        <p:spPr>
          <a:xfrm>
            <a:off x="7109817" y="1493044"/>
            <a:ext cx="7144" cy="30003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3" name="Shape 38"/>
          <p:cNvSpPr/>
          <p:nvPr/>
        </p:nvSpPr>
        <p:spPr>
          <a:xfrm>
            <a:off x="7338417" y="1757363"/>
            <a:ext cx="274393" cy="34290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8702" y="1843088"/>
            <a:ext cx="171450" cy="17145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7724738" y="1721644"/>
            <a:ext cx="103707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Learning</a:t>
            </a:r>
            <a:endParaRPr lang="en-US" sz="1193" dirty="0"/>
          </a:p>
        </p:txBody>
      </p:sp>
      <p:sp>
        <p:nvSpPr>
          <p:cNvPr id="56" name="Shape 40"/>
          <p:cNvSpPr/>
          <p:nvPr/>
        </p:nvSpPr>
        <p:spPr>
          <a:xfrm>
            <a:off x="7338417" y="2428875"/>
            <a:ext cx="1423392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2717" y="2641402"/>
            <a:ext cx="114300" cy="11430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7652742" y="2543175"/>
            <a:ext cx="98048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Tracking (Open/Convert)</a:t>
            </a:r>
            <a:endParaRPr lang="en-US" sz="942" dirty="0"/>
          </a:p>
        </p:txBody>
      </p:sp>
      <p:sp>
        <p:nvSpPr>
          <p:cNvPr id="59" name="Shape 42"/>
          <p:cNvSpPr/>
          <p:nvPr/>
        </p:nvSpPr>
        <p:spPr>
          <a:xfrm>
            <a:off x="7338417" y="3082528"/>
            <a:ext cx="1409105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2717" y="3295055"/>
            <a:ext cx="100013" cy="114300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638455" y="3196828"/>
            <a:ext cx="994767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Counterfactual Logging</a:t>
            </a:r>
            <a:endParaRPr lang="en-US" sz="942" dirty="0"/>
          </a:p>
        </p:txBody>
      </p:sp>
      <p:sp>
        <p:nvSpPr>
          <p:cNvPr id="62" name="Shape 44"/>
          <p:cNvSpPr/>
          <p:nvPr/>
        </p:nvSpPr>
        <p:spPr>
          <a:xfrm>
            <a:off x="7338417" y="3736181"/>
            <a:ext cx="1409105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2717" y="3948708"/>
            <a:ext cx="114300" cy="114300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7652742" y="3850481"/>
            <a:ext cx="98048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Model Updates</a:t>
            </a:r>
            <a:endParaRPr lang="en-US" sz="942" dirty="0"/>
          </a:p>
        </p:txBody>
      </p:sp>
      <p:sp>
        <p:nvSpPr>
          <p:cNvPr id="65" name="Shape 46"/>
          <p:cNvSpPr/>
          <p:nvPr/>
        </p:nvSpPr>
        <p:spPr>
          <a:xfrm>
            <a:off x="7338417" y="4389834"/>
            <a:ext cx="1409105" cy="55364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2717" y="4602361"/>
            <a:ext cx="117397" cy="114300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7655840" y="4504134"/>
            <a:ext cx="977382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Capping</a:t>
            </a:r>
            <a:endParaRPr lang="en-US" sz="942" dirty="0"/>
          </a:p>
        </p:txBody>
      </p:sp>
      <p:sp>
        <p:nvSpPr>
          <p:cNvPr id="68" name="Shape 48"/>
          <p:cNvSpPr/>
          <p:nvPr/>
        </p:nvSpPr>
        <p:spPr>
          <a:xfrm>
            <a:off x="571500" y="4441627"/>
            <a:ext cx="8001000" cy="416123"/>
          </a:xfrm>
          <a:prstGeom prst="rect">
            <a:avLst/>
          </a:prstGeom>
          <a:solidFill>
            <a:srgbClr val="161B22">
              <a:alpha val="4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9" name="Text 49"/>
          <p:cNvSpPr/>
          <p:nvPr/>
        </p:nvSpPr>
        <p:spPr>
          <a:xfrm>
            <a:off x="571500" y="4441627"/>
            <a:ext cx="8001000" cy="41612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implementation separating signal collection (edge) from heavy composition and ranking (cloud).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FastAPI Backend: 9-Component Pipeline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885950"/>
            <a:ext cx="4208311" cy="2571750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74109"/>
            <a:ext cx="3979711" cy="139543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65561" y="1434164"/>
            <a:ext cx="3506939" cy="637915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65561" y="1434164"/>
            <a:ext cx="28575" cy="637915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286" y="1521675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08461" y="1491314"/>
            <a:ext cx="30783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Router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5408461" y="1694910"/>
            <a:ext cx="307831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CLV-tiered routing directing high-value users to LLM generation and others to templates.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5065561" y="2143516"/>
            <a:ext cx="3506939" cy="637915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5065561" y="2143516"/>
            <a:ext cx="28575" cy="637915"/>
          </a:xfrm>
          <a:prstGeom prst="rect">
            <a:avLst/>
          </a:prstGeom>
          <a:solidFill>
            <a:srgbClr val="23863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216" y="2231027"/>
            <a:ext cx="150019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92917" y="2200666"/>
            <a:ext cx="309385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Retriever (RAG)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5392917" y="2404263"/>
            <a:ext cx="309385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Assembles user history, preferences, and real-time signals into a structured prompt.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5065561" y="2852868"/>
            <a:ext cx="3506939" cy="637915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5065561" y="2852868"/>
            <a:ext cx="28575" cy="637915"/>
          </a:xfrm>
          <a:prstGeom prst="rect">
            <a:avLst/>
          </a:prstGeom>
          <a:solidFill>
            <a:srgbClr val="A371F7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797" y="2940379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13484" y="2910018"/>
            <a:ext cx="307329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Composer</a:t>
            </a:r>
            <a:endParaRPr lang="en-US" sz="1090" dirty="0"/>
          </a:p>
        </p:txBody>
      </p:sp>
      <p:sp>
        <p:nvSpPr>
          <p:cNvPr id="20" name="Text 13"/>
          <p:cNvSpPr/>
          <p:nvPr/>
        </p:nvSpPr>
        <p:spPr>
          <a:xfrm>
            <a:off x="5413484" y="3113615"/>
            <a:ext cx="307329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integration generating 5 diverse candidate messages per request.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5065561" y="3562220"/>
            <a:ext cx="3506939" cy="637915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5065561" y="3562220"/>
            <a:ext cx="28575" cy="637915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592" y="3649731"/>
            <a:ext cx="171450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21074" y="3619370"/>
            <a:ext cx="306570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 Filter</a:t>
            </a:r>
            <a:endParaRPr lang="en-US" sz="1090" dirty="0"/>
          </a:p>
        </p:txBody>
      </p:sp>
      <p:sp>
        <p:nvSpPr>
          <p:cNvPr id="25" name="Text 17"/>
          <p:cNvSpPr/>
          <p:nvPr/>
        </p:nvSpPr>
        <p:spPr>
          <a:xfrm>
            <a:off x="5421074" y="3822967"/>
            <a:ext cx="306570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Blocks hallucinations, dark patterns, and false urgency before ranking.</a:t>
            </a:r>
            <a:endParaRPr lang="en-US" sz="834" dirty="0"/>
          </a:p>
        </p:txBody>
      </p:sp>
      <p:sp>
        <p:nvSpPr>
          <p:cNvPr id="26" name="Shape 18"/>
          <p:cNvSpPr/>
          <p:nvPr/>
        </p:nvSpPr>
        <p:spPr>
          <a:xfrm>
            <a:off x="5065561" y="4271572"/>
            <a:ext cx="3506939" cy="637915"/>
          </a:xfrm>
          <a:prstGeom prst="rect">
            <a:avLst/>
          </a:prstGeom>
          <a:solidFill>
            <a:srgbClr val="161B22">
              <a:alpha val="40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5065561" y="4271572"/>
            <a:ext cx="28575" cy="637915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286" y="4359083"/>
            <a:ext cx="192881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29892" y="4328722"/>
            <a:ext cx="30568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Ranker</a:t>
            </a:r>
            <a:endParaRPr lang="en-US" sz="1090" dirty="0"/>
          </a:p>
        </p:txBody>
      </p:sp>
      <p:sp>
        <p:nvSpPr>
          <p:cNvPr id="30" name="Text 21"/>
          <p:cNvSpPr/>
          <p:nvPr/>
        </p:nvSpPr>
        <p:spPr>
          <a:xfrm>
            <a:off x="5429892" y="4532319"/>
            <a:ext cx="305688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 and LLM pairwise scoring to select the optimal candidate for delivery.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NotifyCompose iOS SDK (Swift Package)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57288"/>
            <a:ext cx="3929063" cy="1028700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260872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5831" y="1243013"/>
            <a:ext cx="17805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NotifyComposeClient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657225" y="1507331"/>
            <a:ext cx="37576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entry point for the SDK. Provides modern async/await APIs for requesting composed notifications and tracking user interactions.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571500" y="2257425"/>
            <a:ext cx="3929063" cy="835819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361009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343150"/>
            <a:ext cx="21788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Signal Batching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657225" y="2607469"/>
            <a:ext cx="37576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SignalCollector batches user context events and flushes them periodically to optimize battery and network usage.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571500" y="3164681"/>
            <a:ext cx="3929063" cy="1028700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3268266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1538" y="3250406"/>
            <a:ext cx="14305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Adapters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657225" y="3514725"/>
            <a:ext cx="37576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Pre-built adapters (FoodDeliveryAdapter, ECommerceAdapter, SocialMediaAdapter) to construct domain-specific context payloads quickly.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643438" y="1157288"/>
            <a:ext cx="3929063" cy="2250281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643438" y="1157288"/>
            <a:ext cx="3929063" cy="225028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c = NotifyComposeClient.shared; c.configure(apiKey:"sk-...")</a:t>
            </a:r>
            <a:endParaRPr lang="en-US" sz="942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c.track(event:"app_opened", properties:["time":"night"])</a:t>
            </a:r>
            <a:endParaRPr lang="en-US" sz="942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ctx = FoodDeliveryAdapter.buildContext(item:"Pizza", weather:"Rain")</a:t>
            </a:r>
            <a:endParaRPr lang="en-US" sz="942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let n = try await c.compose(userId:"user_123", context:ctx)</a:t>
            </a:r>
            <a:endParaRPr lang="en-US" sz="942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c.reportOpened(notificationId:n.id)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SwiftUI Sample App: Three Domains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100138"/>
            <a:ext cx="2831799" cy="4043363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214438"/>
            <a:ext cx="457200" cy="457200"/>
          </a:xfrm>
          <a:prstGeom prst="rect">
            <a:avLst/>
          </a:prstGeom>
          <a:solidFill>
            <a:srgbClr val="58A6FF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32873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1757363"/>
            <a:ext cx="2588912" cy="30718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</a:t>
            </a:r>
            <a:endParaRPr lang="en-US" sz="139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50269"/>
            <a:ext cx="62508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4033" y="2121694"/>
            <a:ext cx="61079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1530548" y="2121694"/>
            <a:ext cx="823317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Lunch/Dinner</a:t>
            </a:r>
            <a:endParaRPr lang="en-US" sz="94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74571"/>
            <a:ext cx="62508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033" y="2345996"/>
            <a:ext cx="89118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UI: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1810941" y="2345996"/>
            <a:ext cx="1359098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 &amp; time sliders</a:t>
            </a:r>
            <a:endParaRPr lang="en-US" sz="94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98874"/>
            <a:ext cx="62508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4033" y="2570299"/>
            <a:ext cx="94476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Demonstrates:</a:t>
            </a:r>
            <a:endParaRPr lang="en-US" sz="885" dirty="0"/>
          </a:p>
        </p:txBody>
      </p:sp>
      <p:sp>
        <p:nvSpPr>
          <p:cNvPr id="16" name="Text 9"/>
          <p:cNvSpPr/>
          <p:nvPr/>
        </p:nvSpPr>
        <p:spPr>
          <a:xfrm>
            <a:off x="1864519" y="2570299"/>
            <a:ext cx="141019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context &amp; prefs</a:t>
            </a:r>
            <a:endParaRPr lang="en-US" sz="942" dirty="0"/>
          </a:p>
        </p:txBody>
      </p:sp>
      <p:sp>
        <p:nvSpPr>
          <p:cNvPr id="17" name="Shape 10"/>
          <p:cNvSpPr/>
          <p:nvPr/>
        </p:nvSpPr>
        <p:spPr>
          <a:xfrm>
            <a:off x="685800" y="2990329"/>
            <a:ext cx="2588912" cy="4000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85800" y="2990329"/>
            <a:ext cx="2588912" cy="4000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FoodDeliveryAdapter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.buildContext(weather: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.raining, time: .lateNight)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3546174" y="1100138"/>
            <a:ext cx="2771803" cy="4043363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3660474" y="1214438"/>
            <a:ext cx="457200" cy="457200"/>
          </a:xfrm>
          <a:prstGeom prst="rect">
            <a:avLst/>
          </a:prstGeom>
          <a:solidFill>
            <a:srgbClr val="238636">
              <a:alpha val="10000"/>
            </a:srgbClr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487" y="1328738"/>
            <a:ext cx="257175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60474" y="1757363"/>
            <a:ext cx="2528915" cy="30718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</a:t>
            </a:r>
            <a:endParaRPr lang="en-US" sz="1397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0474" y="2150269"/>
            <a:ext cx="62508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808707" y="2121694"/>
            <a:ext cx="61079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endParaRPr lang="en-US" sz="885" dirty="0"/>
          </a:p>
        </p:txBody>
      </p:sp>
      <p:sp>
        <p:nvSpPr>
          <p:cNvPr id="25" name="Text 16"/>
          <p:cNvSpPr/>
          <p:nvPr/>
        </p:nvSpPr>
        <p:spPr>
          <a:xfrm>
            <a:off x="4505223" y="2121694"/>
            <a:ext cx="998339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Abandoned Cart</a:t>
            </a:r>
            <a:endParaRPr lang="en-US" sz="942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0474" y="2374571"/>
            <a:ext cx="62508" cy="10001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808707" y="2345996"/>
            <a:ext cx="77640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UI:</a:t>
            </a:r>
            <a:endParaRPr lang="en-US" sz="885" dirty="0"/>
          </a:p>
        </p:txBody>
      </p:sp>
      <p:sp>
        <p:nvSpPr>
          <p:cNvPr id="28" name="Text 18"/>
          <p:cNvSpPr/>
          <p:nvPr/>
        </p:nvSpPr>
        <p:spPr>
          <a:xfrm>
            <a:off x="4670840" y="2345996"/>
            <a:ext cx="1518549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selector &amp; discounts</a:t>
            </a:r>
            <a:endParaRPr lang="en-US" sz="942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0474" y="2766027"/>
            <a:ext cx="62508" cy="10001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808707" y="2737452"/>
            <a:ext cx="94476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Demonstrates:</a:t>
            </a:r>
            <a:endParaRPr lang="en-US" sz="885" dirty="0"/>
          </a:p>
        </p:txBody>
      </p:sp>
      <p:sp>
        <p:nvSpPr>
          <p:cNvPr id="31" name="Text 20"/>
          <p:cNvSpPr/>
          <p:nvPr/>
        </p:nvSpPr>
        <p:spPr>
          <a:xfrm>
            <a:off x="4839193" y="2737452"/>
            <a:ext cx="125551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vs empathy</a:t>
            </a:r>
            <a:endParaRPr lang="en-US" sz="942" dirty="0"/>
          </a:p>
        </p:txBody>
      </p:sp>
      <p:sp>
        <p:nvSpPr>
          <p:cNvPr id="32" name="Shape 21"/>
          <p:cNvSpPr/>
          <p:nvPr/>
        </p:nvSpPr>
        <p:spPr>
          <a:xfrm>
            <a:off x="3660474" y="2990329"/>
            <a:ext cx="2528915" cy="4000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3660474" y="2990329"/>
            <a:ext cx="2528915" cy="4000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ECommerceAdapter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.buildContext(cartValue: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150, discountActive: true)</a:t>
            </a:r>
            <a:endParaRPr lang="en-US" sz="727" dirty="0"/>
          </a:p>
        </p:txBody>
      </p:sp>
      <p:sp>
        <p:nvSpPr>
          <p:cNvPr id="34" name="Shape 23"/>
          <p:cNvSpPr/>
          <p:nvPr/>
        </p:nvSpPr>
        <p:spPr>
          <a:xfrm>
            <a:off x="6460852" y="1100138"/>
            <a:ext cx="3011844" cy="4043363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6575152" y="1214438"/>
            <a:ext cx="457200" cy="457200"/>
          </a:xfrm>
          <a:prstGeom prst="rect">
            <a:avLst/>
          </a:prstGeom>
          <a:solidFill>
            <a:srgbClr val="D29922">
              <a:alpha val="10000"/>
            </a:srgbClr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0877" y="1328738"/>
            <a:ext cx="285750" cy="2286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575152" y="1757363"/>
            <a:ext cx="2768957" cy="30718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</a:t>
            </a:r>
            <a:endParaRPr lang="en-US" sz="1397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5152" y="2150269"/>
            <a:ext cx="62508" cy="100013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723385" y="2121694"/>
            <a:ext cx="61079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endParaRPr lang="en-US" sz="885" dirty="0"/>
          </a:p>
        </p:txBody>
      </p:sp>
      <p:sp>
        <p:nvSpPr>
          <p:cNvPr id="40" name="Text 27"/>
          <p:cNvSpPr/>
          <p:nvPr/>
        </p:nvSpPr>
        <p:spPr>
          <a:xfrm>
            <a:off x="7419901" y="2121694"/>
            <a:ext cx="140196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Content &amp; Activity</a:t>
            </a:r>
            <a:endParaRPr lang="en-US" sz="942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5152" y="2374571"/>
            <a:ext cx="62508" cy="100013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723385" y="2345996"/>
            <a:ext cx="89118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UI:</a:t>
            </a:r>
            <a:endParaRPr lang="en-US" sz="885" dirty="0"/>
          </a:p>
        </p:txBody>
      </p:sp>
      <p:sp>
        <p:nvSpPr>
          <p:cNvPr id="43" name="Text 29"/>
          <p:cNvSpPr/>
          <p:nvPr/>
        </p:nvSpPr>
        <p:spPr>
          <a:xfrm>
            <a:off x="7700293" y="2345996"/>
            <a:ext cx="104477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simulator</a:t>
            </a:r>
            <a:endParaRPr lang="en-US" sz="942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5152" y="2598874"/>
            <a:ext cx="62508" cy="100013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723385" y="2570299"/>
            <a:ext cx="94476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Demonstrates:</a:t>
            </a:r>
            <a:endParaRPr lang="en-US" sz="885" dirty="0"/>
          </a:p>
        </p:txBody>
      </p:sp>
      <p:sp>
        <p:nvSpPr>
          <p:cNvPr id="46" name="Text 31"/>
          <p:cNvSpPr/>
          <p:nvPr/>
        </p:nvSpPr>
        <p:spPr>
          <a:xfrm>
            <a:off x="7753871" y="2570299"/>
            <a:ext cx="1525191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social signals</a:t>
            </a:r>
            <a:endParaRPr lang="en-US" sz="942" dirty="0"/>
          </a:p>
        </p:txBody>
      </p:sp>
      <p:sp>
        <p:nvSpPr>
          <p:cNvPr id="47" name="Shape 32"/>
          <p:cNvSpPr/>
          <p:nvPr/>
        </p:nvSpPr>
        <p:spPr>
          <a:xfrm>
            <a:off x="6575152" y="2823177"/>
            <a:ext cx="2768957" cy="4000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6575152" y="2823177"/>
            <a:ext cx="2768957" cy="4000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SocialMediaAdapter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.buildContext(unreadCount: 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5, topSignal: .friendPost)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Pipeline Inspector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3086100" cy="3740423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43063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5850" y="1500188"/>
            <a:ext cx="23431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Bridging Theory &amp; Practice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800100" y="2100263"/>
            <a:ext cx="2628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Sample App includes a dedicated Inspector tab that provides full transparency into the SDK's decision-making process.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128963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4413" y="3100388"/>
            <a:ext cx="60543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Mapping:</a:t>
            </a:r>
            <a:endParaRPr lang="en-US" sz="885" dirty="0"/>
          </a:p>
        </p:txBody>
      </p:sp>
      <p:sp>
        <p:nvSpPr>
          <p:cNvPr id="10" name="Text 5"/>
          <p:cNvSpPr/>
          <p:nvPr/>
        </p:nvSpPr>
        <p:spPr>
          <a:xfrm>
            <a:off x="1705570" y="3100388"/>
            <a:ext cx="172343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execution step is mapped directly to its corresponding section in the ACM paper.</a:t>
            </a:r>
            <a:endParaRPr lang="en-US" sz="94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63330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4413" y="3934755"/>
            <a:ext cx="80545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Traceability: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1905595" y="3934755"/>
            <a:ext cx="152340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the exact context retrieved, candidates generated, and reward scores assigned.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3943350" y="1271588"/>
            <a:ext cx="4629150" cy="3871913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943350" y="1271588"/>
            <a:ext cx="4629150" cy="31432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0"/>
          <p:cNvSpPr/>
          <p:nvPr/>
        </p:nvSpPr>
        <p:spPr>
          <a:xfrm>
            <a:off x="3943350" y="1578769"/>
            <a:ext cx="46291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1"/>
          <p:cNvSpPr/>
          <p:nvPr/>
        </p:nvSpPr>
        <p:spPr>
          <a:xfrm>
            <a:off x="4629150" y="1357313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pipeline_trace.log</a:t>
            </a:r>
            <a:endParaRPr lang="en-US" sz="727" dirty="0"/>
          </a:p>
        </p:txBody>
      </p:sp>
      <p:sp>
        <p:nvSpPr>
          <p:cNvPr id="18" name="Text 12"/>
          <p:cNvSpPr/>
          <p:nvPr/>
        </p:nvSpPr>
        <p:spPr>
          <a:xfrm>
            <a:off x="4114800" y="1750219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11:30:01</a:t>
            </a:r>
            <a:endParaRPr lang="en-US" sz="834" dirty="0"/>
          </a:p>
        </p:txBody>
      </p:sp>
      <p:sp>
        <p:nvSpPr>
          <p:cNvPr id="19" name="Text 13"/>
          <p:cNvSpPr/>
          <p:nvPr/>
        </p:nvSpPr>
        <p:spPr>
          <a:xfrm>
            <a:off x="4800600" y="1750219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4.1]</a:t>
            </a:r>
            <a:endParaRPr lang="en-US" sz="834" dirty="0"/>
          </a:p>
        </p:txBody>
      </p:sp>
      <p:sp>
        <p:nvSpPr>
          <p:cNvPr id="20" name="Text 14"/>
          <p:cNvSpPr/>
          <p:nvPr/>
        </p:nvSpPr>
        <p:spPr>
          <a:xfrm>
            <a:off x="5557838" y="1750219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BudgetRouter: CLV Tier =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299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Gold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-&gt; Routing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 LLM Path</a:t>
            </a:r>
            <a:endParaRPr lang="en-US" sz="834" dirty="0"/>
          </a:p>
        </p:txBody>
      </p:sp>
      <p:sp>
        <p:nvSpPr>
          <p:cNvPr id="21" name="Text 15"/>
          <p:cNvSpPr/>
          <p:nvPr/>
        </p:nvSpPr>
        <p:spPr>
          <a:xfrm>
            <a:off x="4114800" y="2201670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11:30:02</a:t>
            </a:r>
            <a:endParaRPr lang="en-US" sz="834" dirty="0"/>
          </a:p>
        </p:txBody>
      </p:sp>
      <p:sp>
        <p:nvSpPr>
          <p:cNvPr id="22" name="Text 16"/>
          <p:cNvSpPr/>
          <p:nvPr/>
        </p:nvSpPr>
        <p:spPr>
          <a:xfrm>
            <a:off x="4800600" y="2201670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4.2]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5557838" y="2201670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ContextRetriever: Loaded 3 signals (Weather, Time, History)</a:t>
            </a:r>
            <a:endParaRPr lang="en-US" sz="834" dirty="0"/>
          </a:p>
        </p:txBody>
      </p:sp>
      <p:sp>
        <p:nvSpPr>
          <p:cNvPr id="24" name="Text 18"/>
          <p:cNvSpPr/>
          <p:nvPr/>
        </p:nvSpPr>
        <p:spPr>
          <a:xfrm>
            <a:off x="4114800" y="2653122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11:30:04</a:t>
            </a:r>
            <a:endParaRPr lang="en-US" sz="834" dirty="0"/>
          </a:p>
        </p:txBody>
      </p:sp>
      <p:sp>
        <p:nvSpPr>
          <p:cNvPr id="25" name="Text 19"/>
          <p:cNvSpPr/>
          <p:nvPr/>
        </p:nvSpPr>
        <p:spPr>
          <a:xfrm>
            <a:off x="4800600" y="2653122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4.3]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5557838" y="2653122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MessageComposer: Generated 5 candidate messages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4114800" y="3104573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11:30:05</a:t>
            </a:r>
            <a:endParaRPr lang="en-US" sz="834" dirty="0"/>
          </a:p>
        </p:txBody>
      </p:sp>
      <p:sp>
        <p:nvSpPr>
          <p:cNvPr id="28" name="Text 22"/>
          <p:cNvSpPr/>
          <p:nvPr/>
        </p:nvSpPr>
        <p:spPr>
          <a:xfrm>
            <a:off x="4800600" y="3104573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4.4]</a:t>
            </a:r>
            <a:endParaRPr lang="en-US" sz="834" dirty="0"/>
          </a:p>
        </p:txBody>
      </p:sp>
      <p:sp>
        <p:nvSpPr>
          <p:cNvPr id="29" name="Text 23"/>
          <p:cNvSpPr/>
          <p:nvPr/>
        </p:nvSpPr>
        <p:spPr>
          <a:xfrm>
            <a:off x="5557838" y="3104573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GuardrailFilter: Candidate 2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514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REJECTED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(Policy: False Urgency)</a:t>
            </a:r>
            <a:endParaRPr lang="en-US" sz="834" dirty="0"/>
          </a:p>
        </p:txBody>
      </p:sp>
      <p:sp>
        <p:nvSpPr>
          <p:cNvPr id="30" name="Text 24"/>
          <p:cNvSpPr/>
          <p:nvPr/>
        </p:nvSpPr>
        <p:spPr>
          <a:xfrm>
            <a:off x="4114800" y="3556025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11:30:06</a:t>
            </a:r>
            <a:endParaRPr lang="en-US" sz="834" dirty="0"/>
          </a:p>
        </p:txBody>
      </p:sp>
      <p:sp>
        <p:nvSpPr>
          <p:cNvPr id="31" name="Text 25"/>
          <p:cNvSpPr/>
          <p:nvPr/>
        </p:nvSpPr>
        <p:spPr>
          <a:xfrm>
            <a:off x="4800600" y="3556025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4.5]</a:t>
            </a:r>
            <a:endParaRPr lang="en-US" sz="834" dirty="0"/>
          </a:p>
        </p:txBody>
      </p:sp>
      <p:sp>
        <p:nvSpPr>
          <p:cNvPr id="32" name="Text 26"/>
          <p:cNvSpPr/>
          <p:nvPr/>
        </p:nvSpPr>
        <p:spPr>
          <a:xfrm>
            <a:off x="5557838" y="3556025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RewardRanker: Scoring remaining 4 candidates...</a:t>
            </a:r>
            <a:endParaRPr lang="en-US" sz="834" dirty="0"/>
          </a:p>
        </p:txBody>
      </p:sp>
      <p:sp>
        <p:nvSpPr>
          <p:cNvPr id="33" name="Text 27"/>
          <p:cNvSpPr/>
          <p:nvPr/>
        </p:nvSpPr>
        <p:spPr>
          <a:xfrm>
            <a:off x="4114800" y="4007476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11:30:06</a:t>
            </a:r>
            <a:endParaRPr lang="en-US" sz="834" dirty="0"/>
          </a:p>
        </p:txBody>
      </p:sp>
      <p:sp>
        <p:nvSpPr>
          <p:cNvPr id="34" name="Text 28"/>
          <p:cNvSpPr/>
          <p:nvPr/>
        </p:nvSpPr>
        <p:spPr>
          <a:xfrm>
            <a:off x="4800600" y="4007476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4.5]</a:t>
            </a:r>
            <a:endParaRPr lang="en-US" sz="834" dirty="0"/>
          </a:p>
        </p:txBody>
      </p:sp>
      <p:sp>
        <p:nvSpPr>
          <p:cNvPr id="35" name="Text 29"/>
          <p:cNvSpPr/>
          <p:nvPr/>
        </p:nvSpPr>
        <p:spPr>
          <a:xfrm>
            <a:off x="5557838" y="4007476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RewardRanker: Candidate 4 selected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(Score: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3863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0.92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</a:t>
            </a:r>
            <a:endParaRPr lang="en-US" sz="834" dirty="0"/>
          </a:p>
        </p:txBody>
      </p:sp>
      <p:sp>
        <p:nvSpPr>
          <p:cNvPr id="36" name="Text 30"/>
          <p:cNvSpPr/>
          <p:nvPr/>
        </p:nvSpPr>
        <p:spPr>
          <a:xfrm>
            <a:off x="4114800" y="4458928"/>
            <a:ext cx="571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11:30:07</a:t>
            </a:r>
            <a:endParaRPr lang="en-US" sz="834" dirty="0"/>
          </a:p>
        </p:txBody>
      </p:sp>
      <p:sp>
        <p:nvSpPr>
          <p:cNvPr id="37" name="Text 31"/>
          <p:cNvSpPr/>
          <p:nvPr/>
        </p:nvSpPr>
        <p:spPr>
          <a:xfrm>
            <a:off x="4800600" y="4458928"/>
            <a:ext cx="6429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[Sec 4.6]</a:t>
            </a:r>
            <a:endParaRPr lang="en-US" sz="834" dirty="0"/>
          </a:p>
        </p:txBody>
      </p:sp>
      <p:sp>
        <p:nvSpPr>
          <p:cNvPr id="38" name="Text 32"/>
          <p:cNvSpPr/>
          <p:nvPr/>
        </p:nvSpPr>
        <p:spPr>
          <a:xfrm>
            <a:off x="5557838" y="4458928"/>
            <a:ext cx="284321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6EDF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FrequencyCapper: Check passed (1/3 daily touches)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Documentation &amp; Research Paper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71625"/>
            <a:ext cx="3957638" cy="1650206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71625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3"/>
          <p:cNvSpPr/>
          <p:nvPr/>
        </p:nvSpPr>
        <p:spPr>
          <a:xfrm>
            <a:off x="4521994" y="1571625"/>
            <a:ext cx="7144" cy="165020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214688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71625"/>
            <a:ext cx="28575" cy="165020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Shape 6"/>
          <p:cNvSpPr/>
          <p:nvPr/>
        </p:nvSpPr>
        <p:spPr>
          <a:xfrm>
            <a:off x="657225" y="1657350"/>
            <a:ext cx="285750" cy="2857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22" y="1728788"/>
            <a:ext cx="107156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8700" y="1678781"/>
            <a:ext cx="203775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 Research Paper</a:t>
            </a:r>
            <a:endParaRPr lang="en-US" sz="1397" dirty="0"/>
          </a:p>
        </p:txBody>
      </p:sp>
      <p:sp>
        <p:nvSpPr>
          <p:cNvPr id="12" name="Text 8"/>
          <p:cNvSpPr/>
          <p:nvPr/>
        </p:nvSpPr>
        <p:spPr>
          <a:xfrm>
            <a:off x="657225" y="2028825"/>
            <a:ext cx="37861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11-page academic survey and architectural framework, formatted for WSDM '26. Includes all PRISMA methodology, evaluation frameworks, and ethical considerations.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657225" y="2886075"/>
            <a:ext cx="557938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953941"/>
            <a:ext cx="75009" cy="1000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5109" y="2936081"/>
            <a:ext cx="240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.pdf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1258026" y="2886075"/>
            <a:ext cx="607944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751" y="2953941"/>
            <a:ext cx="125016" cy="1000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25916" y="2936081"/>
            <a:ext cx="240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.tex</a:t>
            </a:r>
            <a:endParaRPr lang="en-US" sz="727" dirty="0"/>
          </a:p>
        </p:txBody>
      </p:sp>
      <p:sp>
        <p:nvSpPr>
          <p:cNvPr id="19" name="Shape 13"/>
          <p:cNvSpPr/>
          <p:nvPr/>
        </p:nvSpPr>
        <p:spPr>
          <a:xfrm>
            <a:off x="1908832" y="2886075"/>
            <a:ext cx="617934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557" y="2946797"/>
            <a:ext cx="75009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126717" y="2928938"/>
            <a:ext cx="3000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.docx</a:t>
            </a:r>
            <a:endParaRPr lang="en-US" sz="727" dirty="0"/>
          </a:p>
        </p:txBody>
      </p:sp>
      <p:sp>
        <p:nvSpPr>
          <p:cNvPr id="22" name="Shape 15"/>
          <p:cNvSpPr/>
          <p:nvPr/>
        </p:nvSpPr>
        <p:spPr>
          <a:xfrm>
            <a:off x="4614863" y="1571625"/>
            <a:ext cx="3957638" cy="1621631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4614863" y="1571625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17"/>
          <p:cNvSpPr/>
          <p:nvPr/>
        </p:nvSpPr>
        <p:spPr>
          <a:xfrm>
            <a:off x="8565356" y="1571625"/>
            <a:ext cx="7144" cy="1621631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Shape 18"/>
          <p:cNvSpPr/>
          <p:nvPr/>
        </p:nvSpPr>
        <p:spPr>
          <a:xfrm>
            <a:off x="4614863" y="3186113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Shape 19"/>
          <p:cNvSpPr/>
          <p:nvPr/>
        </p:nvSpPr>
        <p:spPr>
          <a:xfrm>
            <a:off x="4614863" y="1571625"/>
            <a:ext cx="28575" cy="1621631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7" name="Shape 20"/>
          <p:cNvSpPr/>
          <p:nvPr/>
        </p:nvSpPr>
        <p:spPr>
          <a:xfrm>
            <a:off x="4700588" y="1657350"/>
            <a:ext cx="285750" cy="2857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095" y="1728788"/>
            <a:ext cx="160734" cy="14287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72063" y="1678781"/>
            <a:ext cx="197881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397" dirty="0"/>
          </a:p>
        </p:txBody>
      </p:sp>
      <p:sp>
        <p:nvSpPr>
          <p:cNvPr id="30" name="Text 22"/>
          <p:cNvSpPr/>
          <p:nvPr/>
        </p:nvSpPr>
        <p:spPr>
          <a:xfrm>
            <a:off x="4700588" y="2028825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technical design document mapping the paper's theoretical components to concrete software modules. Covers signal collection flow and API contracts.</a:t>
            </a:r>
            <a:endParaRPr lang="en-US" sz="942" dirty="0"/>
          </a:p>
        </p:txBody>
      </p:sp>
      <p:sp>
        <p:nvSpPr>
          <p:cNvPr id="31" name="Shape 23"/>
          <p:cNvSpPr/>
          <p:nvPr/>
        </p:nvSpPr>
        <p:spPr>
          <a:xfrm>
            <a:off x="4700588" y="2693194"/>
            <a:ext cx="1268016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761059"/>
            <a:ext cx="125016" cy="10001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968478" y="2743200"/>
            <a:ext cx="9001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ARCHITECTURE.md</a:t>
            </a:r>
            <a:endParaRPr lang="en-US" sz="727" dirty="0"/>
          </a:p>
        </p:txBody>
      </p:sp>
      <p:sp>
        <p:nvSpPr>
          <p:cNvPr id="34" name="Shape 25"/>
          <p:cNvSpPr/>
          <p:nvPr/>
        </p:nvSpPr>
        <p:spPr>
          <a:xfrm>
            <a:off x="6011466" y="2693194"/>
            <a:ext cx="895480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7191" y="2753916"/>
            <a:ext cx="112514" cy="10001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266855" y="2736056"/>
            <a:ext cx="540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diagrams/</a:t>
            </a:r>
            <a:endParaRPr lang="en-US" sz="727" dirty="0"/>
          </a:p>
        </p:txBody>
      </p:sp>
      <p:sp>
        <p:nvSpPr>
          <p:cNvPr id="37" name="Shape 27"/>
          <p:cNvSpPr/>
          <p:nvPr/>
        </p:nvSpPr>
        <p:spPr>
          <a:xfrm>
            <a:off x="571500" y="3278981"/>
            <a:ext cx="3957638" cy="1621631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38" name="Shape 28"/>
          <p:cNvSpPr/>
          <p:nvPr/>
        </p:nvSpPr>
        <p:spPr>
          <a:xfrm>
            <a:off x="571500" y="3278981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9" name="Shape 29"/>
          <p:cNvSpPr/>
          <p:nvPr/>
        </p:nvSpPr>
        <p:spPr>
          <a:xfrm>
            <a:off x="4521994" y="3278981"/>
            <a:ext cx="7144" cy="1621631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0" name="Shape 30"/>
          <p:cNvSpPr/>
          <p:nvPr/>
        </p:nvSpPr>
        <p:spPr>
          <a:xfrm>
            <a:off x="571500" y="4893469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Shape 31"/>
          <p:cNvSpPr/>
          <p:nvPr/>
        </p:nvSpPr>
        <p:spPr>
          <a:xfrm>
            <a:off x="571500" y="3278981"/>
            <a:ext cx="28575" cy="1621631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42" name="Shape 32"/>
          <p:cNvSpPr/>
          <p:nvPr/>
        </p:nvSpPr>
        <p:spPr>
          <a:xfrm>
            <a:off x="657225" y="3364706"/>
            <a:ext cx="285750" cy="2857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592" y="3436144"/>
            <a:ext cx="125016" cy="14287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028700" y="3386138"/>
            <a:ext cx="166806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Guide</a:t>
            </a:r>
            <a:endParaRPr lang="en-US" sz="1397" dirty="0"/>
          </a:p>
        </p:txBody>
      </p:sp>
      <p:sp>
        <p:nvSpPr>
          <p:cNvPr id="45" name="Text 34"/>
          <p:cNvSpPr/>
          <p:nvPr/>
        </p:nvSpPr>
        <p:spPr>
          <a:xfrm>
            <a:off x="657225" y="3736181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instructions for running the FastAPI backend locally, integrating the Swift Package into iOS apps, and running the SwiftUI sample application.</a:t>
            </a:r>
            <a:endParaRPr lang="en-US" sz="942" dirty="0"/>
          </a:p>
        </p:txBody>
      </p:sp>
      <p:sp>
        <p:nvSpPr>
          <p:cNvPr id="46" name="Shape 35"/>
          <p:cNvSpPr/>
          <p:nvPr/>
        </p:nvSpPr>
        <p:spPr>
          <a:xfrm>
            <a:off x="657225" y="4400550"/>
            <a:ext cx="907982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4468416"/>
            <a:ext cx="125016" cy="100013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925116" y="4450556"/>
            <a:ext cx="540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README.md</a:t>
            </a:r>
            <a:endParaRPr lang="en-US" sz="727" dirty="0"/>
          </a:p>
        </p:txBody>
      </p:sp>
      <p:sp>
        <p:nvSpPr>
          <p:cNvPr id="49" name="Shape 37"/>
          <p:cNvSpPr/>
          <p:nvPr/>
        </p:nvSpPr>
        <p:spPr>
          <a:xfrm>
            <a:off x="1608069" y="4400550"/>
            <a:ext cx="1135521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3794" y="4461272"/>
            <a:ext cx="112514" cy="100013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1863458" y="4443413"/>
            <a:ext cx="7801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cURL examples</a:t>
            </a:r>
            <a:endParaRPr lang="en-US" sz="727" dirty="0"/>
          </a:p>
        </p:txBody>
      </p:sp>
      <p:sp>
        <p:nvSpPr>
          <p:cNvPr id="52" name="Shape 39"/>
          <p:cNvSpPr/>
          <p:nvPr/>
        </p:nvSpPr>
        <p:spPr>
          <a:xfrm>
            <a:off x="4614863" y="3278981"/>
            <a:ext cx="3957638" cy="1621631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53" name="Shape 40"/>
          <p:cNvSpPr/>
          <p:nvPr/>
        </p:nvSpPr>
        <p:spPr>
          <a:xfrm>
            <a:off x="4614863" y="3278981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4" name="Shape 41"/>
          <p:cNvSpPr/>
          <p:nvPr/>
        </p:nvSpPr>
        <p:spPr>
          <a:xfrm>
            <a:off x="8565356" y="3278981"/>
            <a:ext cx="7144" cy="1621631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5" name="Shape 42"/>
          <p:cNvSpPr/>
          <p:nvPr/>
        </p:nvSpPr>
        <p:spPr>
          <a:xfrm>
            <a:off x="4614863" y="4893469"/>
            <a:ext cx="395763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6" name="Shape 43"/>
          <p:cNvSpPr/>
          <p:nvPr/>
        </p:nvSpPr>
        <p:spPr>
          <a:xfrm>
            <a:off x="4614863" y="3278981"/>
            <a:ext cx="28575" cy="1621631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7" name="Shape 44"/>
          <p:cNvSpPr/>
          <p:nvPr/>
        </p:nvSpPr>
        <p:spPr>
          <a:xfrm>
            <a:off x="4700588" y="3364706"/>
            <a:ext cx="285750" cy="285750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166" y="3436144"/>
            <a:ext cx="178594" cy="142875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5072063" y="3386138"/>
            <a:ext cx="209669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License</a:t>
            </a:r>
            <a:endParaRPr lang="en-US" sz="1397" dirty="0"/>
          </a:p>
        </p:txBody>
      </p:sp>
      <p:sp>
        <p:nvSpPr>
          <p:cNvPr id="60" name="Text 46"/>
          <p:cNvSpPr/>
          <p:nvPr/>
        </p:nvSpPr>
        <p:spPr>
          <a:xfrm>
            <a:off x="4700588" y="3736181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entire repository—including the SDK, backend server, sample app, and documentation—is released under the permissive MIT License for academic and commercial use.</a:t>
            </a:r>
            <a:endParaRPr lang="en-US" sz="942" dirty="0"/>
          </a:p>
        </p:txBody>
      </p:sp>
      <p:sp>
        <p:nvSpPr>
          <p:cNvPr id="61" name="Shape 47"/>
          <p:cNvSpPr/>
          <p:nvPr/>
        </p:nvSpPr>
        <p:spPr>
          <a:xfrm>
            <a:off x="4700588" y="4400550"/>
            <a:ext cx="1002999" cy="235744"/>
          </a:xfrm>
          <a:prstGeom prst="rect">
            <a:avLst/>
          </a:prstGeom>
          <a:solidFill>
            <a:srgbClr val="161B22">
              <a:alpha val="8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86313" y="4461272"/>
            <a:ext cx="100013" cy="100013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4943475" y="4443413"/>
            <a:ext cx="6600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8B94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MIT License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Open Source Release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4650581" cy="2093119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71588"/>
            <a:ext cx="465058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3"/>
          <p:cNvSpPr/>
          <p:nvPr/>
        </p:nvSpPr>
        <p:spPr>
          <a:xfrm>
            <a:off x="5214938" y="1271588"/>
            <a:ext cx="7144" cy="2093119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3357563"/>
            <a:ext cx="465058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271588"/>
            <a:ext cx="28575" cy="2093119"/>
          </a:xfrm>
          <a:prstGeom prst="rect">
            <a:avLst/>
          </a:prstGeom>
          <a:solidFill>
            <a:srgbClr val="23863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59111"/>
            <a:ext cx="128588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1538" y="1443038"/>
            <a:ext cx="132695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193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793081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7263" y="1764506"/>
            <a:ext cx="100104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Theory to Practice: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2044033" y="1764506"/>
            <a:ext cx="300659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ACM paper pipeline is now a fully functional, open-source SDK.</a:t>
            </a:r>
            <a:endParaRPr lang="en-US" sz="942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264569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7263" y="2235994"/>
            <a:ext cx="100255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Cross-Domain Ready: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2045540" y="2235994"/>
            <a:ext cx="30050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Pre-built adapters for Social Media, Food Delivery, and E-Commerce.</a:t>
            </a:r>
            <a:endParaRPr lang="en-US" sz="942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736056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7263" y="2707481"/>
            <a:ext cx="77607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&amp; Scalable: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1819061" y="2707481"/>
            <a:ext cx="323157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guardrails, frequency capping, and CLV-based budget routing.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571500" y="3579019"/>
            <a:ext cx="4650581" cy="1328738"/>
          </a:xfrm>
          <a:prstGeom prst="rect">
            <a:avLst/>
          </a:prstGeom>
          <a:solidFill>
            <a:srgbClr val="161B22">
              <a:alpha val="60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571500" y="3579019"/>
            <a:ext cx="465058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Shape 15"/>
          <p:cNvSpPr/>
          <p:nvPr/>
        </p:nvSpPr>
        <p:spPr>
          <a:xfrm>
            <a:off x="5214938" y="3579019"/>
            <a:ext cx="7144" cy="132873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Shape 16"/>
          <p:cNvSpPr/>
          <p:nvPr/>
        </p:nvSpPr>
        <p:spPr>
          <a:xfrm>
            <a:off x="571500" y="4900613"/>
            <a:ext cx="4650581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17"/>
          <p:cNvSpPr/>
          <p:nvPr/>
        </p:nvSpPr>
        <p:spPr>
          <a:xfrm>
            <a:off x="571500" y="3579019"/>
            <a:ext cx="28575" cy="1328738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766542"/>
            <a:ext cx="166092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9042" y="3750469"/>
            <a:ext cx="112692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the Code</a:t>
            </a:r>
            <a:endParaRPr lang="en-US" sz="1193" dirty="0"/>
          </a:p>
        </p:txBody>
      </p:sp>
      <p:sp>
        <p:nvSpPr>
          <p:cNvPr id="27" name="Shape 19"/>
          <p:cNvSpPr/>
          <p:nvPr/>
        </p:nvSpPr>
        <p:spPr>
          <a:xfrm>
            <a:off x="742950" y="4071938"/>
            <a:ext cx="4271963" cy="380405"/>
          </a:xfrm>
          <a:prstGeom prst="rect">
            <a:avLst/>
          </a:prstGeom>
          <a:solidFill>
            <a:srgbClr val="010409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42950" y="4071938"/>
            <a:ext cx="4271963" cy="38040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github.com/ndagrawal/LLMNotificationComposition</a:t>
            </a:r>
            <a:endParaRPr lang="en-US" sz="1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565749"/>
            <a:ext cx="112514" cy="128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1189" y="4552355"/>
            <a:ext cx="985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Nilesh Agrawal |</a:t>
            </a:r>
            <a:endParaRPr lang="en-US" sz="942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2752" y="4565749"/>
            <a:ext cx="128588" cy="12858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227064" y="4552355"/>
            <a:ext cx="1735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nilesh.d.agrawal@gmail.com</a:t>
            </a:r>
            <a:endParaRPr lang="en-US" sz="942" dirty="0"/>
          </a:p>
        </p:txBody>
      </p:sp>
      <p:sp>
        <p:nvSpPr>
          <p:cNvPr id="33" name="Shape 23"/>
          <p:cNvSpPr/>
          <p:nvPr/>
        </p:nvSpPr>
        <p:spPr>
          <a:xfrm>
            <a:off x="5457825" y="1598414"/>
            <a:ext cx="3114675" cy="2857500"/>
          </a:xfrm>
          <a:prstGeom prst="rect">
            <a:avLst/>
          </a:prstGeom>
          <a:solidFill>
            <a:srgbClr val="161B22">
              <a:alpha val="60000"/>
            </a:srgbClr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2125" y="2192796"/>
            <a:ext cx="2886075" cy="1668735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457825" y="4541639"/>
            <a:ext cx="31146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Figure: Domain Generalizability Matrix demonstrating cross-industry applicability.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2026-03-18T23:57:03Z</dcterms:created>
  <dcterms:modified xsi:type="dcterms:W3CDTF">2026-03-18T23:57:03Z</dcterms:modified>
</cp:coreProperties>
</file>